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FFF1F2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463040"/>
            <a:ext cx="94484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11D48"/>
                </a:solidFill>
              </a:defRPr>
            </a:pPr>
            <a:r>
              <a:t>ACADEMIC &amp; HACKATHON PROJECT PITCH DECK</a:t>
            </a:r>
          </a:p>
          <a:p>
            <a:pPr algn="ctr">
              <a:defRPr sz="6400" b="1">
                <a:solidFill>
                  <a:srgbClr val="E11D48"/>
                </a:solidFill>
              </a:defRPr>
            </a:pPr>
            <a:r>
              <a:t>ZIV</a:t>
            </a:r>
          </a:p>
          <a:p>
            <a:pPr algn="ctr">
              <a:defRPr sz="2200" b="1">
                <a:solidFill>
                  <a:srgbClr val="18181B"/>
                </a:solidFill>
              </a:defRPr>
            </a:pPr>
            <a:r>
              <a:t>The Modern Playground for Future Developers</a:t>
            </a:r>
          </a:p>
          <a:p>
            <a:pPr algn="ctr">
              <a:defRPr sz="1400">
                <a:solidFill>
                  <a:srgbClr val="52525B"/>
                </a:solidFill>
              </a:defRPr>
            </a:pPr>
            <a:r>
              <a:t>AI-Powered Adaptive Learning, Real-Time Spoken Mentorship &amp; Placement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484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8181B"/>
                </a:solidFill>
              </a:defRPr>
            </a:pPr>
            <a:r>
              <a:t>Presented By: Engineering Project Team  •  Live Demo: https://doap-1908.web.app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  <a:latin typeface="Calibri"/>
              </a:defRPr>
            </a:pPr>
            <a:r>
              <a:t>1. IDEA &amp; 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181B"/>
                </a:solidFill>
                <a:latin typeface="Calibri"/>
              </a:defRPr>
            </a:pPr>
            <a:r>
              <a:t>Problem Statement: Challenges in Modern CS Pedagogy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11D48"/>
                </a:solidFill>
              </a:defRPr>
            </a:pPr>
            <a:r>
              <a:t>01. One-Size-Fits-All Lectures</a:t>
            </a:r>
          </a:p>
          <a:p>
            <a:pPr>
              <a:defRPr sz="1300">
                <a:solidFill>
                  <a:srgbClr val="52525B"/>
                </a:solidFill>
              </a:defRPr>
            </a:pPr>
            <a:r>
              <a:t>Standard engineering curriculums rely heavily on theoretical rote learning without personalized 1-on-1 feedback or real-time assistance for struggling students.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11D48"/>
                </a:solidFill>
              </a:defRPr>
            </a:pPr>
            <a:r>
              <a:t>02. Limitations of Text Chatbots</a:t>
            </a:r>
          </a:p>
          <a:p>
            <a:pPr>
              <a:defRPr sz="1300">
                <a:solidFill>
                  <a:srgbClr val="52525B"/>
                </a:solidFill>
              </a:defRPr>
            </a:pPr>
            <a:r>
              <a:t>Conventional AI tools (ChatGPT) lack real-time conversational spoken dialogue and cannot view active screens to debug students' programming errors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11D48"/>
                </a:solidFill>
              </a:defRPr>
            </a:pPr>
            <a:r>
              <a:t>03. Fragmented Placement Prep</a:t>
            </a:r>
          </a:p>
          <a:p>
            <a:pPr>
              <a:defRPr sz="1300">
                <a:solidFill>
                  <a:srgbClr val="52525B"/>
                </a:solidFill>
              </a:defRPr>
            </a:pPr>
            <a:r>
              <a:t>Students juggle disconnected tools — LeetCode for DSA, YouTube for concepts, isolated resume tools, and have no realistic AI-proctored mock interviews.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11D48"/>
                </a:solidFill>
              </a:defRPr>
            </a:pPr>
            <a:r>
              <a:t>04. Industry-Academia Skill Gap</a:t>
            </a:r>
          </a:p>
          <a:p>
            <a:pPr>
              <a:defRPr sz="1300">
                <a:solidFill>
                  <a:srgbClr val="52525B"/>
                </a:solidFill>
              </a:defRPr>
            </a:pPr>
            <a:r>
              <a:t>Students have no benchmark to assess whether their competencies match actual hiring criteria at Tier-1 companies (TCS, Infosys, Amazon, Google).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  <a:latin typeface="Calibri"/>
              </a:defRPr>
            </a:pPr>
            <a:r>
              <a:t>1. IDEA &amp; 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181B"/>
                </a:solidFill>
                <a:latin typeface="Calibri"/>
              </a:defRPr>
            </a:pPr>
            <a:r>
              <a:t>Proposed Solution: The Unified Ziv Ecosystem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FFF1F2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11D48"/>
                </a:solidFill>
              </a:defRPr>
            </a:pPr>
            <a:r>
              <a:t>✦ Professor Myraa (Voice Tutor)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Real-time, two-way conversational AI professor offering sub-2.5s turnaround and live screen-share code inspection in English and natural Hinglish.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FFF1F2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11D48"/>
                </a:solidFill>
              </a:defRPr>
            </a:pPr>
            <a:r>
              <a:t>✦ Cognitive Text AI Tutor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Step-by-step problem breakdown featuring transparent cognitive thinking traces (&lt;think&gt;), interactive flash quizzes, and syntax evaluation.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FFF1F2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11D48"/>
                </a:solidFill>
              </a:defRPr>
            </a:pPr>
            <a:r>
              <a:t>✦ In-Browser IDE &amp; Sandboxes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Instant code compilation with Pyodide WebAssembly and 8,600+ authentic company-tagged interview questions with test case validation.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FFF1F2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11D48"/>
                </a:solidFill>
              </a:defRPr>
            </a:pPr>
            <a:r>
              <a:t>✦ AI Interview Proctoring &amp; Prep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Full-screen anti-cheat mock interviews with gaze and window tracking, automated performance scorecards, and ATS resume analysis.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  <a:latin typeface="Calibri"/>
              </a:defRPr>
            </a:pPr>
            <a:r>
              <a:t>2. 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181B"/>
                </a:solidFill>
                <a:latin typeface="Calibri"/>
              </a:defRPr>
            </a:pPr>
            <a:r>
              <a:t>System Architecture &amp; Comprehensive Tech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11D48"/>
                </a:solidFill>
              </a:defRPr>
            </a:pPr>
            <a:r>
              <a:t>Frontend &amp; 3D WebGL</a:t>
            </a:r>
          </a:p>
          <a:p>
            <a:pPr>
              <a:defRPr sz="1200">
                <a:solidFill>
                  <a:srgbClr val="18181B"/>
                </a:solidFill>
              </a:defRPr>
            </a:pPr>
            <a:r>
              <a:t>React 18 + Vite 6 + Tailwind CSS v4</a:t>
            </a:r>
          </a:p>
          <a:p>
            <a:pPr>
              <a:defRPr sz="1200">
                <a:solidFill>
                  <a:srgbClr val="18181B"/>
                </a:solidFill>
              </a:defRPr>
            </a:pPr>
            <a:r>
              <a:t>• Three.js WebGL: Interactive undulating 3D cherry wave &amp; particle field</a:t>
            </a:r>
          </a:p>
          <a:p>
            <a:pPr>
              <a:defRPr sz="1200">
                <a:solidFill>
                  <a:srgbClr val="18181B"/>
                </a:solidFill>
              </a:defRPr>
            </a:pPr>
            <a:r>
              <a:t>• Mobile-first responsive layout with floating bottom navigation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11D48"/>
                </a:solidFill>
              </a:defRPr>
            </a:pPr>
            <a:r>
              <a:t>Voice &amp; Audio Pipeline</a:t>
            </a:r>
          </a:p>
          <a:p>
            <a:pPr>
              <a:defRPr sz="1200">
                <a:solidFill>
                  <a:srgbClr val="18181B"/>
                </a:solidFill>
              </a:defRPr>
            </a:pPr>
            <a:r>
              <a:t>Web Audio API (24kHz Mono AudioBuffer)</a:t>
            </a:r>
          </a:p>
          <a:p>
            <a:pPr>
              <a:defRPr sz="1200">
                <a:solidFill>
                  <a:srgbClr val="18181B"/>
                </a:solidFill>
              </a:defRPr>
            </a:pPr>
            <a:r>
              <a:t>• Google Gemini Aoede Studio Speech Engine</a:t>
            </a:r>
          </a:p>
          <a:p>
            <a:pPr>
              <a:defRPr sz="1200">
                <a:solidFill>
                  <a:srgbClr val="18181B"/>
                </a:solidFill>
              </a:defRPr>
            </a:pPr>
            <a:r>
              <a:t>• Ultra-low latency fallback to Google/Edge Natural Neural Speech</a:t>
            </a:r>
          </a:p>
          <a:p>
            <a:pPr>
              <a:defRPr sz="1200">
                <a:solidFill>
                  <a:srgbClr val="18181B"/>
                </a:solidFill>
              </a:defRPr>
            </a:pPr>
            <a:r>
              <a:t>• Real-time speech visualizer &amp; frequency analyser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11D48"/>
                </a:solidFill>
              </a:defRPr>
            </a:pPr>
            <a:r>
              <a:t>Core Generative AI</a:t>
            </a:r>
          </a:p>
          <a:p>
            <a:pPr>
              <a:defRPr sz="1200">
                <a:solidFill>
                  <a:srgbClr val="18181B"/>
                </a:solidFill>
              </a:defRPr>
            </a:pPr>
            <a:r>
              <a:t>Google Gemini 2.5 Flash</a:t>
            </a:r>
          </a:p>
          <a:p>
            <a:pPr>
              <a:defRPr sz="1200">
                <a:solidFill>
                  <a:srgbClr val="18181B"/>
                </a:solidFill>
              </a:defRPr>
            </a:pPr>
            <a:r>
              <a:t>• Thinking budget 0 for rapid voice responses (&lt;30 words)</a:t>
            </a:r>
          </a:p>
          <a:p>
            <a:pPr>
              <a:defRPr sz="1200">
                <a:solidFill>
                  <a:srgbClr val="18181B"/>
                </a:solidFill>
              </a:defRPr>
            </a:pPr>
            <a:r>
              <a:t>• Context-aware reasoning with 8-layer client-side memory brain</a:t>
            </a:r>
          </a:p>
          <a:p>
            <a:pPr>
              <a:defRPr sz="1200">
                <a:solidFill>
                  <a:srgbClr val="18181B"/>
                </a:solidFill>
              </a:defRPr>
            </a:pPr>
            <a:r>
              <a:t>• Strict multilingual Hinglish / English dialect matching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11D48"/>
                </a:solidFill>
              </a:defRPr>
            </a:pPr>
            <a:r>
              <a:t>Sandboxed Execution &amp; Cloud</a:t>
            </a:r>
          </a:p>
          <a:p>
            <a:pPr>
              <a:defRPr sz="1200">
                <a:solidFill>
                  <a:srgbClr val="18181B"/>
                </a:solidFill>
              </a:defRPr>
            </a:pPr>
            <a:r>
              <a:t>Pyodide WebAssembly (Client-side Python compilation)</a:t>
            </a:r>
          </a:p>
          <a:p>
            <a:pPr>
              <a:defRPr sz="1200">
                <a:solidFill>
                  <a:srgbClr val="18181B"/>
                </a:solidFill>
              </a:defRPr>
            </a:pPr>
            <a:r>
              <a:t>• Judge0 Cloud API for multi-language execution</a:t>
            </a:r>
          </a:p>
          <a:p>
            <a:pPr>
              <a:defRPr sz="1200">
                <a:solidFill>
                  <a:srgbClr val="18181B"/>
                </a:solidFill>
              </a:defRPr>
            </a:pPr>
            <a:r>
              <a:t>• Firebase Authentication &amp; Cloud Firestore database</a:t>
            </a:r>
          </a:p>
          <a:p>
            <a:pPr>
              <a:defRPr sz="1200">
                <a:solidFill>
                  <a:srgbClr val="18181B"/>
                </a:solidFill>
              </a:defRPr>
            </a:pPr>
            <a:r>
              <a:t>• Firebase Global CDN Hosting with HTTP/2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  <a:latin typeface="Calibri"/>
              </a:defRPr>
            </a:pPr>
            <a:r>
              <a:t>2. 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181B"/>
                </a:solidFill>
                <a:latin typeface="Calibri"/>
              </a:defRPr>
            </a:pPr>
            <a:r>
              <a:t>Key Technical Innovations &amp; Engineering Highlights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698480" cy="100584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11D48"/>
                </a:solidFill>
              </a:defRPr>
            </a:pPr>
            <a:r>
              <a:t>✔  Sub-2.5s Zero-Lag Voice Sync: 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Engineered 450ms silence detection coupled with synchronized Web Audio API playback, triggering audio and text transcript at the exact same millisecond.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10698480" cy="100584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11D48"/>
                </a:solidFill>
              </a:defRPr>
            </a:pPr>
            <a:r>
              <a:t>✔  Interactive 3D Three.js WebGL: 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Implemented harmonic mathematical wave deformation with floating metallic crystal geometries and mouse-reactive lighting running at 60fps.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10698480" cy="100584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11D48"/>
                </a:solidFill>
              </a:defRPr>
            </a:pPr>
            <a:r>
              <a:t>✔  Full-Screen Anti-Cheat Engine: 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Integrated browser visibility state listeners (document.visibilitychange, blur) to detect tab switches and prevent exam malpractice.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120640"/>
            <a:ext cx="10698480" cy="100584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11D48"/>
                </a:solidFill>
              </a:defRPr>
            </a:pPr>
            <a:r>
              <a:t>✔  Client-Side Offloaded Execution: 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Utilized in-browser WebAssembly (Pyodide) for zero-latency Python code verification, cutting cloud server compute costs to near-zero.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  <a:latin typeface="Calibri"/>
              </a:defRPr>
            </a:pPr>
            <a:r>
              <a:t>3. FEASIBILITY AND VIABILITY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181B"/>
                </a:solidFill>
                <a:latin typeface="Calibri"/>
              </a:defRPr>
            </a:pPr>
            <a:r>
              <a:t>Technical Feasibility, Cost Viability &amp; Market Potential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E11D48"/>
                </a:solidFill>
              </a:defRPr>
            </a:pPr>
            <a:r>
              <a:t>Technical Feasibility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• Zero Hardware Barrier: Runs on standard browser without high-end GPUs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• Cross-platform compatibility on laptops, tablets, and smartphones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• Dual-engine fallback guarantees high reliability even if APIs hit quotas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4747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E11D48"/>
                </a:solidFill>
              </a:defRPr>
            </a:pPr>
            <a:r>
              <a:t>Economic Viability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• Serverless architecture leverages free-tier Firebase and edge compute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• Client-side WebAssembly drastically cuts backend execution expenses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• Commercial scaling costs fractions of a cent per student conversation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4747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E11D48"/>
                </a:solidFill>
              </a:defRPr>
            </a:pPr>
            <a:r>
              <a:t>Market Potential &amp; Scaling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• Primary B2C Market: Millions of CS, IT, BCA, MCA and Diploma students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• Institutional B2B Market: College campus licensing for automated lab tutoring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• High retention driven by gamified daily streaks and placement milestones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  <a:latin typeface="Calibri"/>
              </a:defRPr>
            </a:pPr>
            <a:r>
              <a:t>4. IMPACT AND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181B"/>
                </a:solidFill>
                <a:latin typeface="Calibri"/>
              </a:defRPr>
            </a:pPr>
            <a:r>
              <a:t>Empowering Students &amp; Transforming Campus Placements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4572000"/>
          </a:xfrm>
          <a:prstGeom prst="roundRect">
            <a:avLst/>
          </a:prstGeom>
          <a:solidFill>
            <a:srgbClr val="FFF1F2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E11D48"/>
                </a:solidFill>
              </a:defRPr>
            </a:pPr>
            <a:r>
              <a:t>For Students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• 24/7 Judgment-free doubt clearing in native Hinglish/English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• Alleviates placement anxiety via realistic AI mock interviews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• Targeted preparation on 8,600+ real company questions (TCS, Google)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474720" cy="4572000"/>
          </a:xfrm>
          <a:prstGeom prst="roundRect">
            <a:avLst/>
          </a:prstGeom>
          <a:solidFill>
            <a:srgbClr val="FFF1F2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E11D48"/>
                </a:solidFill>
              </a:defRPr>
            </a:pPr>
            <a:r>
              <a:t>For Colleges &amp; Faculty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• Eliminates manual assignment grading via automated test runners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• Cohort-level weak area analytics to target revision lectures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• Proven improvement in placement conversion ratios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474720" cy="4572000"/>
          </a:xfrm>
          <a:prstGeom prst="roundRect">
            <a:avLst/>
          </a:prstGeom>
          <a:solidFill>
            <a:srgbClr val="FFF1F2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E11D48"/>
                </a:solidFill>
              </a:defRPr>
            </a:pPr>
            <a:r>
              <a:t>Competitive Edge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• vs LeetCode: Adds live conversational voice mentorship &amp; interview proctor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• vs ChatGPT: Embedded multi-language IDE, 8,600+ questions &amp; 3D UI</a:t>
            </a:r>
          </a:p>
          <a:p>
            <a:pPr>
              <a:defRPr sz="1300">
                <a:solidFill>
                  <a:srgbClr val="18181B"/>
                </a:solidFill>
              </a:defRPr>
            </a:pPr>
            <a:r>
              <a:t>• vs Traditional LMS: Real-time interactive feedback vs static PDFs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  <a:latin typeface="Calibri"/>
              </a:defRPr>
            </a:pPr>
            <a:r>
              <a:t>5. RESEARCH AND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181B"/>
                </a:solidFill>
                <a:latin typeface="Calibri"/>
              </a:defRPr>
            </a:pPr>
            <a:r>
              <a:t>Academic Grounding, Industry Standards &amp; Live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6984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11D48"/>
                </a:solidFill>
              </a:defRPr>
            </a:pPr>
            <a:r>
              <a:t>📚  Academic Research &amp; Pedagogical Evidence</a:t>
            </a:r>
          </a:p>
          <a:p>
            <a:pPr>
              <a:defRPr sz="1250">
                <a:solidFill>
                  <a:srgbClr val="18181B"/>
                </a:solidFill>
              </a:defRPr>
            </a:pPr>
            <a:r>
              <a:t>• UNESCO Framework for Generative AI in Education (2023): Scaffolding improves retention by 38%</a:t>
            </a:r>
          </a:p>
          <a:p>
            <a:pPr>
              <a:defRPr sz="1250">
                <a:solidFill>
                  <a:srgbClr val="18181B"/>
                </a:solidFill>
              </a:defRPr>
            </a:pPr>
            <a:r>
              <a:t>• IEEE Access (2022): Browser-level gaze and visibility tracking reduces exam cheating by 92%</a:t>
            </a:r>
          </a:p>
          <a:p>
            <a:pPr>
              <a:defRPr sz="1250">
                <a:solidFill>
                  <a:srgbClr val="18181B"/>
                </a:solidFill>
              </a:defRPr>
            </a:pPr>
            <a:r>
              <a:t>• Google DeepMind Gemini Live Audio Specifications (2024-2025): Conversational low-latency standard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108960"/>
            <a:ext cx="106984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11D48"/>
                </a:solidFill>
              </a:defRPr>
            </a:pPr>
            <a:r>
              <a:t>📚  Industry Curricula &amp; Standards</a:t>
            </a:r>
          </a:p>
          <a:p>
            <a:pPr>
              <a:defRPr sz="1250">
                <a:solidFill>
                  <a:srgbClr val="18181B"/>
                </a:solidFill>
              </a:defRPr>
            </a:pPr>
            <a:r>
              <a:t>• ACM / IEEE-CS Joint Computing Curricula Guidelines for CS Education</a:t>
            </a:r>
          </a:p>
          <a:p>
            <a:pPr>
              <a:defRPr sz="1250">
                <a:solidFill>
                  <a:srgbClr val="18181B"/>
                </a:solidFill>
              </a:defRPr>
            </a:pPr>
            <a:r>
              <a:t>• Authentic interview datasets curated from GeeksforGeeks, LeetCode, and Glassdoor Technical Reviews</a:t>
            </a:r>
          </a:p>
          <a:p>
            <a:pPr>
              <a:defRPr sz="1250">
                <a:solidFill>
                  <a:srgbClr val="18181B"/>
                </a:solidFill>
              </a:defRPr>
            </a:pPr>
            <a:r>
              <a:t>• W3C Web Audio API Recommendation Standard &amp; WebAssembly Pyodide Runtime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63440"/>
            <a:ext cx="106984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11D48"/>
                </a:solidFill>
              </a:defRPr>
            </a:pPr>
            <a:r>
              <a:t>📚  Live Production Deployment &amp; Verification</a:t>
            </a:r>
          </a:p>
          <a:p>
            <a:pPr>
              <a:defRPr sz="1250">
                <a:solidFill>
                  <a:srgbClr val="18181B"/>
                </a:solidFill>
              </a:defRPr>
            </a:pPr>
            <a:r>
              <a:t>• Live Working URL: https://doap-1908.web.app</a:t>
            </a:r>
          </a:p>
          <a:p>
            <a:pPr>
              <a:defRPr sz="1250">
                <a:solidFill>
                  <a:srgbClr val="18181B"/>
                </a:solidFill>
              </a:defRPr>
            </a:pPr>
            <a:r>
              <a:t>• GitHub CI/CD Repository Pipeline with automated Firebase Hosting build</a:t>
            </a:r>
          </a:p>
          <a:p>
            <a:pPr>
              <a:defRPr sz="1250">
                <a:solidFill>
                  <a:srgbClr val="18181B"/>
                </a:solidFill>
              </a:defRPr>
            </a:pPr>
            <a:r>
              <a:t>• Zero-dependency browser execution tested across Chrome, Edge, Safari, and Mobile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