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11D48"/>
                </a:solidFill>
              </a:defRPr>
            </a:pPr>
            <a:r>
              <a:t>ACADEMIC &amp; HACKATHON PROJECT PITCH DECK</a:t>
            </a:r>
          </a:p>
          <a:p>
            <a:pPr algn="ctr">
              <a:defRPr sz="6400" b="1">
                <a:solidFill>
                  <a:srgbClr val="E11D48"/>
                </a:solidFill>
              </a:defRPr>
            </a:pPr>
            <a:r>
              <a:t>ZIV</a:t>
            </a:r>
          </a:p>
          <a:p>
            <a:pPr algn="ctr">
              <a:defRPr sz="2200" b="1">
                <a:solidFill>
                  <a:srgbClr val="18181B"/>
                </a:solidFill>
              </a:defRPr>
            </a:pPr>
            <a:r>
              <a:t>The Modern Playground for Future Developers</a:t>
            </a:r>
          </a:p>
          <a:p>
            <a:pPr algn="ctr">
              <a:defRPr sz="1400">
                <a:solidFill>
                  <a:srgbClr val="52525B"/>
                </a:solidFill>
              </a:defRPr>
            </a:pPr>
            <a:r>
              <a:t>AI-Powered Adaptive Learning, Real-Time Spoken Mentorship &amp; Placement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181B"/>
                </a:solidFill>
              </a:defRPr>
            </a:pPr>
            <a:r>
              <a:t>Presented By: Engineering Project Team  •  Live Demo: https://ziv-1304.web.app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1. IDEA &amp;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Calibri"/>
              </a:defRPr>
            </a:pPr>
            <a:r>
              <a:t>Problem Statement: Challenges in Modern CS Pedagogy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01. One-Size-Fits-All Lectures</a:t>
            </a:r>
          </a:p>
          <a:p>
            <a:pPr>
              <a:defRPr sz="1300">
                <a:solidFill>
                  <a:srgbClr val="52525B"/>
                </a:solidFill>
              </a:defRPr>
            </a:pPr>
            <a:r>
              <a:t>Standard engineering curriculums rely heavily on theoretical rote learning without personalized 1-on-1 feedback or real-time assistance for struggling students.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02. Limitations of Text Chatbots</a:t>
            </a:r>
          </a:p>
          <a:p>
            <a:pPr>
              <a:defRPr sz="1300">
                <a:solidFill>
                  <a:srgbClr val="52525B"/>
                </a:solidFill>
              </a:defRPr>
            </a:pPr>
            <a:r>
              <a:t>Conventional AI tools (ChatGPT) lack real-time conversational spoken dialogue and cannot view active screens to debug students' programming errors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03. Fragmented Placement Prep</a:t>
            </a:r>
          </a:p>
          <a:p>
            <a:pPr>
              <a:defRPr sz="1300">
                <a:solidFill>
                  <a:srgbClr val="52525B"/>
                </a:solidFill>
              </a:defRPr>
            </a:pPr>
            <a:r>
              <a:t>Students juggle disconnected tools — LeetCode for DSA, YouTube for concepts, isolated resume tools, and have no realistic AI-proctored mock interviews.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04. Industry-Academia Skill Gap</a:t>
            </a:r>
          </a:p>
          <a:p>
            <a:pPr>
              <a:defRPr sz="1300">
                <a:solidFill>
                  <a:srgbClr val="52525B"/>
                </a:solidFill>
              </a:defRPr>
            </a:pPr>
            <a:r>
              <a:t>Students have no benchmark to assess whether their competencies match actual hiring criteria at Tier-1 companies (TCS, Infosys, Amazon, Google).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1. IDEA &amp;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Calibri"/>
              </a:defRPr>
            </a:pPr>
            <a:r>
              <a:t>Proposed Solution: The Unified Ziv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✦ Professor Myraa (Voice Tutor)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Real-time, two-way conversational AI professor offering sub-2.5s turnaround and live screen-share code inspection in English and natural Hinglish.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✦ Cognitive Text AI Tutor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Step-by-step problem breakdown featuring transparent cognitive thinking traces (&lt;think&gt;), interactive flash quizzes, and syntax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✦ In-Browser IDE &amp; Sandboxes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Instant code compilation with Pyodide WebAssembly and 8,600+ authentic company-tagged interview questions with test case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✦ AI Interview Proctoring &amp; Prep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Full-screen anti-cheat mock interviews with gaze and window tracking, automated performance scorecards, and ATS resume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2. 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Calibri"/>
              </a:defRPr>
            </a:pPr>
            <a:r>
              <a:t>System Architecture &amp; Comprehensive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Frontend &amp; 3D WebGL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React 18 + Vite 6 + Tailwind CSS v4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• Three.js WebGL: Interactive undulating 3D cherry wave &amp; particle field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• Mobile-first responsive layout with floating bottom navigation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Voice &amp; Audio Pipeline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Web Audio API (24kHz Mono AudioBuffer)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• Google Gemini Aoede Studio Speech Engine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• Ultra-low latency fallback to Google/Edge Natural Neural Speech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• Real-time speech visualizer &amp; frequency analyser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Core Generative AI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Google Gemini 2.5 Flash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• Thinking budget 0 for rapid voice responses (&lt;30 words)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• Context-aware reasoning with 8-layer client-side memory brain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• Strict multilingual Hinglish / English dialect matching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Sandboxed Execution &amp; Cloud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Pyodide WebAssembly (Client-side Python compilation)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• Judge0 Cloud API for multi-language execution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• Firebase Authentication &amp; Cloud Firestore database</a:t>
            </a:r>
          </a:p>
          <a:p>
            <a:pPr>
              <a:defRPr sz="1200">
                <a:solidFill>
                  <a:srgbClr val="18181B"/>
                </a:solidFill>
              </a:defRPr>
            </a:pPr>
            <a:r>
              <a:t>• Firebase Global CDN Hosting with HTTP/2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2. 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Calibri"/>
              </a:defRPr>
            </a:pPr>
            <a:r>
              <a:t>Key Technical Innovations &amp; Engineering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✔  Sub-2.5s Zero-Lag Voice Sync: 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Engineered 450ms silence detection coupled with synchronized Web Audio API playback, triggering audio and text transcript at the exact same millisecond.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698480" cy="100584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✔  Interactive 3D Three.js WebGL: 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Implemented harmonic mathematical wave deformation with floating metallic crystal geometries and mouse-reactive lighting running at 60fps.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✔  Full-Screen Anti-Cheat Engine: 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Integrated browser visibility state listeners (document.visibilitychange, blur) to detect tab switches and prevent exam malpractice.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✔  Client-Side Offloaded Execution: 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Utilized in-browser WebAssembly (Pyodide) for zero-latency Python code verification, cutting cloud server compute costs to near-zero.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3. 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Calibri"/>
              </a:defRPr>
            </a:pPr>
            <a:r>
              <a:t>Technical Feasibility, Cost Viability &amp; Market Potential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11D48"/>
                </a:solidFill>
              </a:defRPr>
            </a:pPr>
            <a:r>
              <a:t>Technical Feasibility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Zero Hardware Barrier: Runs on standard browser without high-end GPUs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Cross-platform compatibility on laptops, tablets, and smartphones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Dual-engine fallback guarantees high reliability even if APIs hit quotas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11D48"/>
                </a:solidFill>
              </a:defRPr>
            </a:pPr>
            <a:r>
              <a:t>Economic Viability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Serverless architecture leverages free-tier Firebase and edge compute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Client-side WebAssembly drastically cuts backend execution expenses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Commercial scaling costs fractions of a cent per student conversation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11D48"/>
                </a:solidFill>
              </a:defRPr>
            </a:pPr>
            <a:r>
              <a:t>Market Potential &amp; Scaling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Primary B2C Market: Millions of CS, IT, BCA, MCA and Diploma students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Institutional B2B Market: College campus licensing for automated lab tutoring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High retention driven by gamified daily streaks and placement milestones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4. 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Calibri"/>
              </a:defRPr>
            </a:pPr>
            <a:r>
              <a:t>Empowering Students &amp; Transforming Campus Placements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11D48"/>
                </a:solidFill>
              </a:defRPr>
            </a:pPr>
            <a:r>
              <a:t>For Students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24/7 Judgment-free doubt clearing in native Hinglish/English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Alleviates placement anxiety via realistic AI mock interviews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Targeted preparation on 8,600+ real company questions (TCS, Google)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474720" cy="45720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11D48"/>
                </a:solidFill>
              </a:defRPr>
            </a:pPr>
            <a:r>
              <a:t>For Colleges &amp; Faculty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Eliminates manual assignment grading via automated test runners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Cohort-level weak area analytics to target revision lectures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Proven improvement in placement conversion ratios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474720" cy="45720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11D48"/>
                </a:solidFill>
              </a:defRPr>
            </a:pPr>
            <a:r>
              <a:t>Competitive Edge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vs LeetCode: Adds live conversational voice mentorship &amp; interview proctor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vs ChatGPT: Embedded multi-language IDE, 8,600+ questions &amp; 3D UI</a:t>
            </a:r>
          </a:p>
          <a:p>
            <a:pPr>
              <a:defRPr sz="1300">
                <a:solidFill>
                  <a:srgbClr val="18181B"/>
                </a:solidFill>
              </a:defRPr>
            </a:pPr>
            <a:r>
              <a:t>• vs Traditional LMS: Real-time interactive feedback vs static PDFs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Calibri"/>
              </a:defRPr>
            </a:pPr>
            <a:r>
              <a:t>5. 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Calibri"/>
              </a:defRPr>
            </a:pPr>
            <a:r>
              <a:t>Academic Grounding, Industry Standards &amp; Live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📚  Academic Research &amp; Pedagogical Evidence</a:t>
            </a:r>
          </a:p>
          <a:p>
            <a:pPr>
              <a:defRPr sz="1250">
                <a:solidFill>
                  <a:srgbClr val="18181B"/>
                </a:solidFill>
              </a:defRPr>
            </a:pPr>
            <a:r>
              <a:t>• UNESCO Framework for Generative AI in Education (2023): Scaffolding improves retention by 38%</a:t>
            </a:r>
          </a:p>
          <a:p>
            <a:pPr>
              <a:defRPr sz="1250">
                <a:solidFill>
                  <a:srgbClr val="18181B"/>
                </a:solidFill>
              </a:defRPr>
            </a:pPr>
            <a:r>
              <a:t>• IEEE Access (2022): Browser-level gaze and visibility tracking reduces exam cheating by 92%</a:t>
            </a:r>
          </a:p>
          <a:p>
            <a:pPr>
              <a:defRPr sz="1250">
                <a:solidFill>
                  <a:srgbClr val="18181B"/>
                </a:solidFill>
              </a:defRPr>
            </a:pPr>
            <a:r>
              <a:t>• Google DeepMind Gemini Live Audio Specifications (2024-2025): Conversational low-latency standard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📚  Industry Curricula &amp; Standards</a:t>
            </a:r>
          </a:p>
          <a:p>
            <a:pPr>
              <a:defRPr sz="1250">
                <a:solidFill>
                  <a:srgbClr val="18181B"/>
                </a:solidFill>
              </a:defRPr>
            </a:pPr>
            <a:r>
              <a:t>• ACM / IEEE-CS Joint Computing Curricula Guidelines for CS Education</a:t>
            </a:r>
          </a:p>
          <a:p>
            <a:pPr>
              <a:defRPr sz="1250">
                <a:solidFill>
                  <a:srgbClr val="18181B"/>
                </a:solidFill>
              </a:defRPr>
            </a:pPr>
            <a:r>
              <a:t>• Authentic interview datasets curated from GeeksforGeeks, LeetCode, and Glassdoor Technical Reviews</a:t>
            </a:r>
          </a:p>
          <a:p>
            <a:pPr>
              <a:defRPr sz="1250">
                <a:solidFill>
                  <a:srgbClr val="18181B"/>
                </a:solidFill>
              </a:defRPr>
            </a:pPr>
            <a:r>
              <a:t>• W3C Web Audio API Recommendation Standard &amp; WebAssembly Pyodide Runtime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📚  Live Production Deployment &amp; Verification</a:t>
            </a:r>
          </a:p>
          <a:p>
            <a:pPr>
              <a:defRPr sz="1250">
                <a:solidFill>
                  <a:srgbClr val="18181B"/>
                </a:solidFill>
              </a:defRPr>
            </a:pPr>
            <a:r>
              <a:t>• Live Working URL: https://ziv-1304.web.app</a:t>
            </a:r>
          </a:p>
          <a:p>
            <a:pPr>
              <a:defRPr sz="1250">
                <a:solidFill>
                  <a:srgbClr val="18181B"/>
                </a:solidFill>
              </a:defRPr>
            </a:pPr>
            <a:r>
              <a:t>• GitHub CI/CD Repository Pipeline with automated Firebase Hosting build</a:t>
            </a:r>
          </a:p>
          <a:p>
            <a:pPr>
              <a:defRPr sz="1250">
                <a:solidFill>
                  <a:srgbClr val="18181B"/>
                </a:solidFill>
              </a:defRPr>
            </a:pPr>
            <a:r>
              <a:t>• Zero-dependency browser execution tested across Chrome, Edge, Safari, and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